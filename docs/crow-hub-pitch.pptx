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0" y="1097280"/>
            <a:ext cx="1554480" cy="1554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14300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onsolas"/>
              </a:defRPr>
            </a:pPr>
            <a:r>
              <a:t>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017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Crow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58A6FF"/>
                </a:solidFill>
                <a:latin typeface="Calibri"/>
              </a:defRPr>
            </a:pPr>
            <a:r>
              <a:t>Universal AI Agent Orchestration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8B949E"/>
                </a:solidFill>
                <a:latin typeface="Calibri"/>
              </a:defRPr>
            </a:pPr>
            <a:r>
              <a:t>One hub.  Every agent.  Any model.  Shared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Built in Rust  |  Open Source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54864" cy="457200"/>
          </a:xfrm>
          <a:prstGeom prst="rect">
            <a:avLst/>
          </a:prstGeom>
          <a:solidFill>
            <a:srgbClr val="F85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F85349"/>
                </a:solidFill>
                <a:latin typeface="Calibri"/>
              </a:defRPr>
            </a:pPr>
            <a:r>
              <a:t>AI development is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700"/>
              </a:spcAft>
              <a:defRPr sz="1400" b="0">
                <a:solidFill>
                  <a:srgbClr val="E6EDF3"/>
                </a:solidFill>
                <a:latin typeface="Calibri"/>
              </a:defRPr>
            </a:pPr>
            <a:r>
              <a:t>Developers juggle 5-10 agent interfaces across different</a:t>
            </a:r>
          </a:p>
          <a:p>
            <a:pPr>
              <a:lnSpc>
                <a:spcPts val="1820"/>
              </a:lnSpc>
              <a:spcAft>
                <a:spcPts val="700"/>
              </a:spcAft>
              <a:defRPr sz="1400" b="0">
                <a:solidFill>
                  <a:srgbClr val="E6EDF3"/>
                </a:solidFill>
                <a:latin typeface="Calibri"/>
              </a:defRPr>
            </a:pPr>
            <a:r>
              <a:t>machines, operating systems, and hardware architectures.</a:t>
            </a:r>
          </a:p>
          <a:p>
            <a:pPr>
              <a:lnSpc>
                <a:spcPts val="1820"/>
              </a:lnSpc>
              <a:spcAft>
                <a:spcPts val="700"/>
              </a:spcAft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>
              <a:lnSpc>
                <a:spcPts val="1820"/>
              </a:lnSpc>
              <a:spcAft>
                <a:spcPts val="700"/>
              </a:spcAft>
              <a:defRPr sz="1400" b="0">
                <a:solidFill>
                  <a:srgbClr val="E6EDF3"/>
                </a:solidFill>
                <a:latin typeface="Calibri"/>
              </a:defRPr>
            </a:pPr>
            <a:r>
              <a:t>Each agent has its own model connection, its own memory</a:t>
            </a:r>
          </a:p>
          <a:p>
            <a:pPr>
              <a:lnSpc>
                <a:spcPts val="1820"/>
              </a:lnSpc>
              <a:spcAft>
                <a:spcPts val="700"/>
              </a:spcAft>
              <a:defRPr sz="1400" b="0">
                <a:solidFill>
                  <a:srgbClr val="E6EDF3"/>
                </a:solidFill>
                <a:latin typeface="Calibri"/>
              </a:defRPr>
            </a:pPr>
            <a:r>
              <a:t>silo, its own communication protocol.</a:t>
            </a:r>
          </a:p>
          <a:p>
            <a:pPr>
              <a:lnSpc>
                <a:spcPts val="1820"/>
              </a:lnSpc>
              <a:spcAft>
                <a:spcPts val="700"/>
              </a:spcAft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>
              <a:lnSpc>
                <a:spcPts val="1820"/>
              </a:lnSpc>
              <a:spcAft>
                <a:spcPts val="700"/>
              </a:spcAft>
              <a:defRPr sz="1400" b="1">
                <a:solidFill>
                  <a:srgbClr val="F0883E"/>
                </a:solidFill>
                <a:latin typeface="Calibri"/>
              </a:defRPr>
            </a:pPr>
            <a:r>
              <a:t>No interop. No shared context. No unified orchestration.</a:t>
            </a:r>
          </a:p>
          <a:p>
            <a:pPr>
              <a:lnSpc>
                <a:spcPts val="1820"/>
              </a:lnSpc>
              <a:spcAft>
                <a:spcPts val="700"/>
              </a:spcAft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>
              <a:lnSpc>
                <a:spcPts val="1820"/>
              </a:lnSpc>
              <a:spcAft>
                <a:spcPts val="700"/>
              </a:spcAft>
              <a:defRPr sz="1400" b="1">
                <a:solidFill>
                  <a:srgbClr val="8B949E"/>
                </a:solidFill>
                <a:latin typeface="Calibri"/>
              </a:defRPr>
            </a:pPr>
            <a:r>
              <a:t>This chaos is NORMAL for serious AI developers</a:t>
            </a:r>
          </a:p>
          <a:p>
            <a:pPr>
              <a:lnSpc>
                <a:spcPts val="1820"/>
              </a:lnSpc>
              <a:spcAft>
                <a:spcPts val="700"/>
              </a:spcAft>
              <a:defRPr sz="1400" b="1">
                <a:solidFill>
                  <a:srgbClr val="8B949E"/>
                </a:solidFill>
                <a:latin typeface="Calibri"/>
              </a:defRPr>
            </a:pPr>
            <a:r>
              <a:t>and enterprises evaluating models across hardware.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188720"/>
            <a:ext cx="502920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188720"/>
            <a:ext cx="54864" cy="47548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0883E"/>
                </a:solidFill>
                <a:latin typeface="Consolas"/>
              </a:defRPr>
            </a:pPr>
            <a:r>
              <a:t>REAL TEST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916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80"/>
              </a:lnSpc>
              <a:spcAft>
                <a:spcPts val="600"/>
              </a:spcAft>
              <a:defRPr sz="1200" b="1">
                <a:solidFill>
                  <a:srgbClr val="58A6FF"/>
                </a:solidFill>
                <a:latin typeface="Consolas"/>
              </a:defRPr>
            </a:pPr>
            <a:r>
              <a:t>Windows x86 PC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LM Studio, Claude Desktop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</a:p>
          <a:p>
            <a:pPr>
              <a:lnSpc>
                <a:spcPts val="1380"/>
              </a:lnSpc>
              <a:spcAft>
                <a:spcPts val="600"/>
              </a:spcAft>
              <a:defRPr sz="1200" b="1">
                <a:solidFill>
                  <a:srgbClr val="58A6FF"/>
                </a:solidFill>
                <a:latin typeface="Consolas"/>
              </a:defRPr>
            </a:pPr>
            <a:r>
              <a:t>WSL2 - Ubuntu Distro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Claude Code, Gemini, Kimi, OpenClaw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</a:p>
          <a:p>
            <a:pPr>
              <a:lnSpc>
                <a:spcPts val="1380"/>
              </a:lnSpc>
              <a:spcAft>
                <a:spcPts val="600"/>
              </a:spcAft>
              <a:defRPr sz="1200" b="1">
                <a:solidFill>
                  <a:srgbClr val="58A6FF"/>
                </a:solidFill>
                <a:latin typeface="Consolas"/>
              </a:defRPr>
            </a:pPr>
            <a:r>
              <a:t>WSL2 - NVIDIA Workbench Distro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GPU compute, CUDA workloads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</a:p>
          <a:p>
            <a:pPr>
              <a:lnSpc>
                <a:spcPts val="1380"/>
              </a:lnSpc>
              <a:spcAft>
                <a:spcPts val="600"/>
              </a:spcAft>
              <a:defRPr sz="1200" b="1">
                <a:solidFill>
                  <a:srgbClr val="58A6FF"/>
                </a:solidFill>
                <a:latin typeface="Consolas"/>
              </a:defRPr>
            </a:pPr>
            <a:r>
              <a:t>ARM64 DGX Spark  (SSH / Ethernet)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vLLM, Ollama, Hermes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Claude Code, Gemini, Kimi, OpenClaw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212080"/>
            <a:ext cx="10972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85349"/>
                </a:solidFill>
                <a:latin typeface="Calibri"/>
              </a:defRPr>
            </a:pPr>
            <a:r>
              <a:t>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Agent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303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8534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897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Operating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5303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8534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897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CPU architectures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303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8534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897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Interoperability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5303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8534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5897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Shared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A high-performance Rust middleware that sits between</a:t>
            </a:r>
            <a:br/>
            <a:r>
              <a:t>ALL your agents, ALL your models, and ALL your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25603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4864" cy="32918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58A6FF"/>
                </a:solidFill>
                <a:latin typeface="Calibri"/>
              </a:defRPr>
            </a:pPr>
            <a:r>
              <a:t>Hot-Swap</a:t>
            </a:r>
            <a:br/>
            <a:r>
              <a:t>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Plug in Claude, Gemini,</a:t>
            </a:r>
            <a:br/>
            <a:r>
              <a:t>Codex, Hermes, Kimi —</a:t>
            </a:r>
            <a:br/>
            <a:r>
              <a:t>any agent, anytime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194560"/>
            <a:ext cx="25603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194560"/>
            <a:ext cx="54864" cy="329184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377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7EE787"/>
                </a:solidFill>
                <a:latin typeface="Calibri"/>
              </a:defRPr>
            </a:pPr>
            <a:r>
              <a:t>Route Any</a:t>
            </a:r>
            <a:br/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461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vLLM, Ollama, LM Studio</a:t>
            </a:r>
            <a:br/>
            <a:r>
              <a:t>to any agent interface.</a:t>
            </a:r>
            <a:br/>
            <a:r>
              <a:t>Auto-discovery built 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94560"/>
            <a:ext cx="25603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54864" cy="329184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377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D2A8FF"/>
                </a:solidFill>
                <a:latin typeface="Calibri"/>
              </a:defRPr>
            </a:pPr>
            <a:r>
              <a:t>Shared</a:t>
            </a:r>
            <a:br/>
            <a: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2461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Graph-based knowledge</a:t>
            </a:r>
            <a:br/>
            <a:r>
              <a:t>that all agents read</a:t>
            </a:r>
            <a:br/>
            <a:r>
              <a:t>and write together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194560"/>
            <a:ext cx="25603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194560"/>
            <a:ext cx="54864" cy="329184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3774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0883E"/>
                </a:solidFill>
                <a:latin typeface="Calibri"/>
              </a:defRPr>
            </a:pPr>
            <a:r>
              <a:t>Monitor</a:t>
            </a:r>
            <a:br/>
            <a:r>
              <a:t>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2461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Tokens, cost, latency</a:t>
            </a:r>
            <a:br/>
            <a:r>
              <a:t>across every agent</a:t>
            </a:r>
            <a:br/>
            <a:r>
              <a:t>and model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8B949E"/>
                </a:solidFill>
                <a:latin typeface="Calibri"/>
              </a:defRPr>
            </a:pPr>
            <a:r>
              <a:t>One interface to orchestrate your entire AI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54864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Four-Layer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4864" cy="10515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188720" cy="36576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D1117"/>
                </a:solidFill>
                <a:latin typeface="Consolas"/>
              </a:defRPr>
            </a:pPr>
            <a: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261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8A6FF"/>
                </a:solidFill>
                <a:latin typeface="Calibri"/>
              </a:defRPr>
            </a:pPr>
            <a:r>
              <a:t>Model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2763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Auto-discovers local servers (vLLM, Ollama, LM Studio, llama.cpp).</a:t>
            </a:r>
            <a:br/>
            <a:r>
              <a:t>Mock API server exposes any backend as OpenAI-compatible.</a:t>
            </a:r>
            <a:br/>
            <a:r>
              <a:t>Route any model to any agent interface.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881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54864" cy="105156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560320"/>
            <a:ext cx="1188720" cy="365760"/>
          </a:xfrm>
          <a:prstGeom prst="round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D1117"/>
                </a:solidFill>
                <a:latin typeface="Consolas"/>
              </a:defRPr>
            </a:pPr>
            <a: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496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EE787"/>
                </a:solidFill>
                <a:latin typeface="Calibri"/>
              </a:defRPr>
            </a:pPr>
            <a:r>
              <a:t>Agent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86207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Hot-swappable plugins: Claude, Gemini, Codex, OpenClaw, Hermes,</a:t>
            </a:r>
            <a:br/>
            <a:r>
              <a:t>Kimi, OpenCode, Copaw + custom. TOML manifest registration.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10881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54864" cy="10515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794760"/>
            <a:ext cx="1188720" cy="36576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D1117"/>
                </a:solidFill>
                <a:latin typeface="Consolas"/>
              </a:defRPr>
            </a:pPr>
            <a:r>
              <a:t>Layer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730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0883E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09651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Group channels (#code-review), Direct Messages between agents.</a:t>
            </a:r>
            <a:br/>
            <a:r>
              <a:t>Configurable monitoring ACLs: FULL / SUMMARY / NOTIFY / NONE.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92040"/>
            <a:ext cx="108813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92040"/>
            <a:ext cx="54864" cy="105156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029200"/>
            <a:ext cx="1188720" cy="36576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D1117"/>
                </a:solidFill>
                <a:latin typeface="Consolas"/>
              </a:defRPr>
            </a:pPr>
            <a:r>
              <a:t>Layer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965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D2A8FF"/>
                </a:solidFill>
                <a:latin typeface="Calibri"/>
              </a:defRPr>
            </a:pPr>
            <a:r>
              <a:t>Graph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33095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Typed knowledge graph (TASK / SKILL / EVENT). Embedding compression</a:t>
            </a:r>
            <a:br/>
            <a:r>
              <a:t>(~75% token reduction). Dual-path retrieval with PageRank.</a:t>
            </a:r>
            <a:br/>
            <a:r>
              <a:t>Cross-workspace memory sharing and merging.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54864" cy="4572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Cross-Platform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F0883E"/>
                </a:solidFill>
                <a:latin typeface="Calibri"/>
              </a:defRPr>
            </a:pPr>
            <a:r>
              <a:t>Crow Hub orchestrates ALL of these from one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4864" cy="1554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8A6FF"/>
                </a:solidFill>
                <a:latin typeface="Calibri"/>
              </a:defRPr>
            </a:pPr>
            <a:r>
              <a:t>Windows x86 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LM Studio  (local models)</a:t>
            </a:r>
          </a:p>
          <a:p>
            <a:pPr>
              <a:lnSpc>
                <a:spcPts val="1439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Claude Desktop  (native app)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3035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4864" cy="155448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642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EE787"/>
                </a:solidFill>
                <a:latin typeface="Calibri"/>
              </a:defRPr>
            </a:pPr>
            <a:r>
              <a:t>WSL2 Ubuntu Distro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Claude Code</a:t>
            </a:r>
          </a:p>
          <a:p>
            <a:pPr>
              <a:lnSpc>
                <a:spcPts val="1439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Gemini, Kimi, OpenClaw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53035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54864" cy="155448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930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D2A8FF"/>
                </a:solidFill>
                <a:latin typeface="Calibri"/>
              </a:defRPr>
            </a:pPr>
            <a:r>
              <a:t>WSL2 NVIDIA Workbench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GPU compute workloads</a:t>
            </a:r>
          </a:p>
          <a:p>
            <a:pPr>
              <a:lnSpc>
                <a:spcPts val="1439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CUDA acceleration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383280"/>
            <a:ext cx="53035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383280"/>
            <a:ext cx="54864" cy="15544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930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883E"/>
                </a:solidFill>
                <a:latin typeface="Calibri"/>
              </a:defRPr>
            </a:pPr>
            <a:r>
              <a:t>ARM64 DGX 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9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vLLM, Ollama  (model servers)</a:t>
            </a:r>
          </a:p>
          <a:p>
            <a:pPr>
              <a:lnSpc>
                <a:spcPts val="1439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  Hermes, Claude Code, Gemini, Kimi, OpenClaw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5212080"/>
            <a:ext cx="57607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52120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8A6FF"/>
                </a:solidFill>
                <a:latin typeface="Consolas"/>
              </a:defRPr>
            </a:pPr>
            <a:r>
              <a:t>CROW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623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Unified orchestration  |  Shared memory  |  Model routing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54864" cy="4572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Why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F0883E"/>
                </a:solidFill>
                <a:latin typeface="Calibri"/>
              </a:defRPr>
            </a:pPr>
            <a:r>
              <a:t>The right tool for high-performance multi-agent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949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4864" cy="21031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8A6FF"/>
                </a:solidFill>
                <a:latin typeface="Calibri"/>
              </a:defRPr>
            </a:pPr>
            <a: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Memory-safe concurrency without garbage collection.</a:t>
            </a:r>
            <a:br/>
            <a:r>
              <a:t>Fearless multi-threaded agent orchestration.</a:t>
            </a:r>
            <a:br/>
            <a:r>
              <a:t>No data races, no null pointers, no segfaults.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3949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4864" cy="210312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7EE787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Zero-cost abstractions. Native speed.</a:t>
            </a:r>
            <a:br/>
            <a:r>
              <a:t>Async I/O via Tokio runtime.</a:t>
            </a:r>
            <a:br/>
            <a:r>
              <a:t>DashMap lock-free concurrent maps.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53949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54864" cy="21031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0883E"/>
                </a:solidFill>
                <a:latin typeface="Calibri"/>
              </a:defRPr>
            </a:pPr>
            <a:r>
              <a:t>Cross-Platform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Compiles natively to Windows, Linux, ARM64.</a:t>
            </a:r>
            <a:br/>
            <a:r>
              <a:t>Single binary deployment — no runtime deps.</a:t>
            </a:r>
            <a:br/>
            <a:r>
              <a:t>Runs on x86 PCs and DGX Spark alike.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931920"/>
            <a:ext cx="53949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4864" cy="21031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D2A8FF"/>
                </a:solidFill>
                <a:latin typeface="Calibri"/>
              </a:defRPr>
            </a:pPr>
            <a:r>
              <a:t>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262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Tokio  — production async runtime</a:t>
            </a:r>
            <a:br/>
            <a:r>
              <a:t>Ratatui  — rich terminal UI</a:t>
            </a:r>
            <a:br/>
            <a:r>
              <a:t>Tauri  — cross-platform desktop GUI</a:t>
            </a:r>
            <a:br/>
            <a:r>
              <a:t>Serde  — zero-copy serialization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54864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Graph Memory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D2A8FF"/>
                </a:solidFill>
                <a:latin typeface="Calibri"/>
              </a:defRPr>
            </a:pPr>
            <a:r>
              <a:t>Inspired by graph-memory  —  adapted for multi-agent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0352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" cy="219456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D2A8FF"/>
                </a:solidFill>
                <a:latin typeface="Calibri"/>
              </a:defRPr>
            </a:pPr>
            <a:r>
              <a:t>Knowledge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7EE787"/>
                </a:solidFill>
                <a:latin typeface="Consolas"/>
              </a:defRPr>
            </a:pPr>
            <a:r>
              <a:t>TASK nodes  — completed actions</a:t>
            </a:r>
          </a:p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58A6FF"/>
                </a:solidFill>
                <a:latin typeface="Consolas"/>
              </a:defRPr>
            </a:pPr>
            <a:r>
              <a:t>SKILL nodes  — procedural know-how</a:t>
            </a:r>
          </a:p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F85349"/>
                </a:solidFill>
                <a:latin typeface="Consolas"/>
              </a:defRPr>
            </a:pPr>
            <a:r>
              <a:t>EVENT nodes  — failures &amp; incidents</a:t>
            </a:r>
          </a:p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Edges: USED_SKILL, SOLVED_BY,</a:t>
            </a:r>
          </a:p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REQUIRES, PATCHES, CONFLICTS_WITH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30352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4864" cy="219456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EE787"/>
                </a:solidFill>
                <a:latin typeface="Calibri"/>
              </a:defRPr>
            </a:pPr>
            <a:r>
              <a:t>Embedding Compression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  <a:r>
              <a:t>Raw messages -&gt; structured triples</a:t>
            </a:r>
          </a:p>
          <a:p>
            <a:pPr>
              <a:lnSpc>
                <a:spcPts val="1500"/>
              </a:lnSpc>
              <a:spcAft>
                <a:spcPts val="600"/>
              </a:spcAft>
              <a:defRPr sz="1200" b="1">
                <a:solidFill>
                  <a:srgbClr val="7EE787"/>
                </a:solidFill>
                <a:latin typeface="Consolas"/>
              </a:defRPr>
            </a:pPr>
            <a:r>
              <a:t>~75% token reduction</a:t>
            </a:r>
          </a:p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Cosine dedup (&gt;= 0.90 -&gt; merge)</a:t>
            </a:r>
          </a:p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Community summarization via LLM</a:t>
            </a:r>
          </a:p>
          <a:p>
            <a:pPr>
              <a:lnSpc>
                <a:spcPts val="150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600"/>
              </a:spcAft>
              <a:defRPr sz="1200" b="1">
                <a:solidFill>
                  <a:srgbClr val="F0883E"/>
                </a:solidFill>
                <a:latin typeface="Consolas"/>
              </a:defRPr>
            </a:pPr>
            <a:r>
              <a:t>174 msgs = 95K tokens -&gt; ~24K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530352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54864" cy="2286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58A6FF"/>
                </a:solidFill>
                <a:latin typeface="Calibri"/>
              </a:defRPr>
            </a:pPr>
            <a:r>
              <a:t>Dual-Path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  <a:r>
              <a:t>Precise:  vector/FTS5 -&gt; seed -&gt; PageRank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  <a:r>
              <a:t>General:  community embeddings -&gt; PPR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7EE787"/>
                </a:solidFill>
                <a:latin typeface="Consolas"/>
              </a:defRPr>
            </a:pPr>
            <a:r>
              <a:t>Personalized PageRank ranks by relevance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7EE787"/>
                </a:solidFill>
                <a:latin typeface="Consolas"/>
              </a:defRPr>
            </a:pPr>
            <a:r>
              <a:t>to YOUR current task, not just recency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Community detection clusters related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86200"/>
            <a:ext cx="530352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54864" cy="2286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0883E"/>
                </a:solidFill>
                <a:latin typeface="Calibri"/>
              </a:defRPr>
            </a:pPr>
            <a:r>
              <a:t>Portable &amp; Shareable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89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  <a:r>
              <a:t>Standard format across ALL agents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  <a:r>
              <a:t>Agent-specific memory plugins translate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  <a:r>
              <a:t>each agent's context to shared graph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E6EDF3"/>
                </a:solidFill>
                <a:latin typeface="Consolas"/>
              </a:defRPr>
            </a:pP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7EE787"/>
                </a:solidFill>
                <a:latin typeface="Consolas"/>
              </a:defRPr>
            </a:pPr>
            <a:r>
              <a:t>Export .crow-memory bundles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7EE787"/>
                </a:solidFill>
                <a:latin typeface="Consolas"/>
              </a:defRPr>
            </a:pPr>
            <a:r>
              <a:t>Import &amp; merge across workspaces</a:t>
            </a:r>
          </a:p>
          <a:p>
            <a:pPr>
              <a:lnSpc>
                <a:spcPts val="1380"/>
              </a:lnSpc>
              <a:spcAft>
                <a:spcPts val="600"/>
              </a:spcAft>
              <a:defRPr sz="1200" b="0">
                <a:solidFill>
                  <a:srgbClr val="8B949E"/>
                </a:solidFill>
                <a:latin typeface="Consolas"/>
              </a:defRPr>
            </a:pPr>
            <a:r>
              <a:t>Cosine dedup prevents duplicates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54864" cy="4572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7EE787"/>
                </a:solidFill>
                <a:latin typeface="Calibri"/>
              </a:defRPr>
            </a:pPr>
            <a:r>
              <a:t>40%+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CAGR agent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7EE787"/>
                </a:solidFill>
                <a:latin typeface="Calibri"/>
              </a:defRPr>
            </a:pPr>
            <a:r>
              <a:t>$28B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AI agent TAM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8534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Universal orchestration</a:t>
            </a:r>
            <a:br/>
            <a:r>
              <a:t>standards exist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0883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Developers building</a:t>
            </a:r>
            <a:br/>
            <a:r>
              <a:t>custom glue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54864" cy="10972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8A6FF"/>
                </a:solidFill>
                <a:latin typeface="Calibri"/>
              </a:defRPr>
            </a:pPr>
            <a:r>
              <a:t>Enterprise Evaluation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Every enterprise testing LLMs needs to compare models across</a:t>
            </a:r>
            <a:br/>
            <a:r>
              <a:t>hardware (x86, ARM, GPU). No tool does this seamlessly today.</a:t>
            </a:r>
            <a:br/>
            <a:r>
              <a:t>Crow Hub is the first unified evaluation + orchestration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54864" cy="109728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EE787"/>
                </a:solidFill>
                <a:latin typeface="Calibri"/>
              </a:defRPr>
            </a:pPr>
            <a:r>
              <a:t>Developer Tooling Vacuum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062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AI developers spend 30%+ of their time on integration glue.</a:t>
            </a:r>
            <a:br/>
            <a:r>
              <a:t>Every team reinvents agent communication and memory.</a:t>
            </a:r>
            <a:br/>
            <a:r>
              <a:t>Crow Hub replaces thousands of lines of bespoke glue code.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394960"/>
            <a:ext cx="54864" cy="10972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883E"/>
                </a:solidFill>
                <a:latin typeface="Calibri"/>
              </a:defRPr>
            </a:pPr>
            <a:r>
              <a:t>Open-Source Adoption Flywheel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86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Community-driven plugin ecosystem. Each new agent plugin</a:t>
            </a:r>
            <a:br/>
            <a:r>
              <a:t>makes the platform more valuable. Network effects compound</a:t>
            </a:r>
            <a:br/>
            <a:r>
              <a:t>as users share memory graphs and agent configurations.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54864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58A6FF"/>
                </a:solidFill>
                <a:latin typeface="Calibri"/>
              </a:defRPr>
            </a:pPr>
            <a:r>
              <a:t>28 weeks  |  8 phases  |  Incremental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7432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4864" cy="1783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664207"/>
            <a:ext cx="1097280" cy="2743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64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D1117"/>
                </a:solidFill>
                <a:latin typeface="Consolas"/>
              </a:defRPr>
            </a:pPr>
            <a:r>
              <a:t>Phase 0-1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664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58A6FF"/>
                </a:solidFill>
                <a:latin typeface="Consolas"/>
              </a:defRPr>
            </a:pPr>
            <a:r>
              <a:t>5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Foundation +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23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Protocol, Hub runtime,</a:t>
            </a:r>
            <a:br/>
            <a:r>
              <a:t>Comms layer, ACLs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554480"/>
            <a:ext cx="27432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554480"/>
            <a:ext cx="54864" cy="178308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1664207"/>
            <a:ext cx="1097280" cy="274320"/>
          </a:xfrm>
          <a:prstGeom prst="round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664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D1117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664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EE787"/>
                </a:solidFill>
                <a:latin typeface="Consolas"/>
              </a:defRPr>
            </a:pPr>
            <a:r>
              <a:t>4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Agent Plugin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23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Plugin loader, TOML manifests</a:t>
            </a:r>
            <a:br/>
            <a:r>
              <a:t>3 initial 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554480"/>
            <a:ext cx="27432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1554480"/>
            <a:ext cx="54864" cy="178308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1664207"/>
            <a:ext cx="1097280" cy="27432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664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D1117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1664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2A8FF"/>
                </a:solidFill>
                <a:latin typeface="Consolas"/>
              </a:defRPr>
            </a:pPr>
            <a:r>
              <a:t>4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Graph Memory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423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Knowledge graph, embeddings,</a:t>
            </a:r>
            <a:br/>
            <a:r>
              <a:t>PPR, dual-path retrieval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554480"/>
            <a:ext cx="27432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1554480"/>
            <a:ext cx="54864" cy="17830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19" y="1664207"/>
            <a:ext cx="1097280" cy="27432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19" y="1664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D1117"/>
                </a:solidFill>
                <a:latin typeface="Consolas"/>
              </a:defRPr>
            </a:pPr>
            <a:r>
              <a:t>Phase 3b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1664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0883E"/>
                </a:solidFill>
                <a:latin typeface="Consolas"/>
              </a:defRPr>
            </a:pPr>
            <a:r>
              <a:t>3 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Model 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423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Model registry, auto-discovery</a:t>
            </a:r>
            <a:br/>
            <a:r>
              <a:t>Mock API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657600"/>
            <a:ext cx="27432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657600"/>
            <a:ext cx="54864" cy="1783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59" y="3767328"/>
            <a:ext cx="1097280" cy="2743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D1117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58A6FF"/>
                </a:solidFill>
                <a:latin typeface="Consolas"/>
              </a:defRPr>
            </a:pPr>
            <a:r>
              <a:t>2 weeks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Monitor +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4526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Per-agent metrics,</a:t>
            </a:r>
            <a:br/>
            <a:r>
              <a:t>cost tracking, exporters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657600"/>
            <a:ext cx="27432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0" y="3657600"/>
            <a:ext cx="54864" cy="178308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840480" y="3767328"/>
            <a:ext cx="1097280" cy="274320"/>
          </a:xfrm>
          <a:prstGeom prst="round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0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D1117"/>
                </a:solidFill>
                <a:latin typeface="Consolas"/>
              </a:defRPr>
            </a:pPr>
            <a:r>
              <a:t>Phase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EE787"/>
                </a:solidFill>
                <a:latin typeface="Consolas"/>
              </a:defRPr>
            </a:pPr>
            <a:r>
              <a:t>3 weeks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TUI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526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Channel views, memory browser</a:t>
            </a:r>
            <a:br/>
            <a:r>
              <a:t>model routing dashboard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3657600"/>
            <a:ext cx="27432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75120" y="3657600"/>
            <a:ext cx="54864" cy="178308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58000" y="3767328"/>
            <a:ext cx="1097280" cy="27432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D1117"/>
                </a:solidFill>
                <a:latin typeface="Consolas"/>
              </a:defRPr>
            </a:pPr>
            <a:r>
              <a:t>Phase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2A8FF"/>
                </a:solidFill>
                <a:latin typeface="Consolas"/>
              </a:defRPr>
            </a:pPr>
            <a:r>
              <a:t>2 weeks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Memory Sharing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4526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Memory plugins, export/import</a:t>
            </a:r>
            <a:br/>
            <a:r>
              <a:t>cross-workspace merge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0" y="3657600"/>
            <a:ext cx="27432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92640" y="3657600"/>
            <a:ext cx="54864" cy="17830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875519" y="3767328"/>
            <a:ext cx="1097280" cy="27432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19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D1117"/>
                </a:solidFill>
                <a:latin typeface="Consolas"/>
              </a:defRPr>
            </a:pPr>
            <a:r>
              <a:t>Phase 7-8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09960" y="3767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0883E"/>
                </a:solidFill>
                <a:latin typeface="Consolas"/>
              </a:defRPr>
            </a:pPr>
            <a:r>
              <a:t>5 weeks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19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GUI + Release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19" y="45262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49E"/>
                </a:solidFill>
                <a:latin typeface="Calibri"/>
              </a:defRPr>
            </a:pPr>
            <a:r>
              <a:t>Tauri desktop GUI,</a:t>
            </a:r>
            <a:br/>
            <a:r>
              <a:t>testing, more agents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760720"/>
            <a:ext cx="109728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19" y="5897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49E"/>
                </a:solidFill>
                <a:latin typeface="Consolas"/>
              </a:defRPr>
            </a:pPr>
            <a:r>
              <a:t>Apr '26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" y="5687568"/>
            <a:ext cx="18288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41862" y="5897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49E"/>
                </a:solidFill>
                <a:latin typeface="Consolas"/>
              </a:defRPr>
            </a:pPr>
            <a:r>
              <a:t>May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44782" y="5687568"/>
            <a:ext cx="18288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09405" y="5897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49E"/>
                </a:solidFill>
                <a:latin typeface="Consolas"/>
              </a:defRPr>
            </a:pPr>
            <a:r>
              <a:t>Jun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12325" y="5687568"/>
            <a:ext cx="18288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76948" y="5897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49E"/>
                </a:solidFill>
                <a:latin typeface="Consolas"/>
              </a:defRPr>
            </a:pPr>
            <a:r>
              <a:t>Jul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9868" y="5687568"/>
            <a:ext cx="18288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44491" y="5897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49E"/>
                </a:solidFill>
                <a:latin typeface="Consolas"/>
              </a:defRPr>
            </a:pPr>
            <a:r>
              <a:t>Aug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47411" y="5687568"/>
            <a:ext cx="18288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12034" y="5897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49E"/>
                </a:solidFill>
                <a:latin typeface="Consolas"/>
              </a:defRPr>
            </a:pPr>
            <a:r>
              <a:t>Sep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14954" y="5687568"/>
            <a:ext cx="18288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79577" y="5897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49E"/>
                </a:solidFill>
                <a:latin typeface="Consolas"/>
              </a:defRPr>
            </a:pPr>
            <a:r>
              <a:t>Oct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82497" y="5687568"/>
            <a:ext cx="18288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247119" y="5897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49E"/>
                </a:solidFill>
                <a:latin typeface="Consolas"/>
              </a:defRPr>
            </a:pPr>
            <a:r>
              <a:t>Nov '26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750040" y="5687568"/>
            <a:ext cx="18288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0" y="640080"/>
            <a:ext cx="1554480" cy="1554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68580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onsolas"/>
              </a:defRPr>
            </a:pPr>
            <a:r>
              <a:t>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We're building the middleware layer that</a:t>
            </a:r>
            <a:br/>
            <a:r>
              <a:t>every AI developer needs but nobody has built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58A6FF"/>
                </a:solidFill>
                <a:latin typeface="Calibri"/>
              </a:defRPr>
            </a:pPr>
            <a:r>
              <a:t>Join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389120"/>
            <a:ext cx="320040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4389120"/>
            <a:ext cx="54864" cy="1463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8A6FF"/>
                </a:solidFill>
                <a:latin typeface="Calibri"/>
              </a:defRPr>
            </a:pPr>
            <a:r>
              <a:t>Systems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892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Rust / C++ experience</a:t>
            </a:r>
            <a:br/>
            <a:r>
              <a:t>Async systems, networking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389120"/>
            <a:ext cx="320040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389120"/>
            <a:ext cx="54864" cy="146304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EE787"/>
                </a:solidFill>
                <a:latin typeface="Calibri"/>
              </a:defRPr>
            </a:pPr>
            <a:r>
              <a:t>ML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892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Model serving, embeddings</a:t>
            </a:r>
            <a:br/>
            <a:r>
              <a:t>vLLM, Ollama, CUDA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4389120"/>
            <a:ext cx="320040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4389120"/>
            <a:ext cx="54864" cy="146304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883E"/>
                </a:solidFill>
                <a:latin typeface="Calibri"/>
              </a:defRPr>
            </a:pPr>
            <a:r>
              <a:t>Open Source Contributors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4892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Agent plugins, memory plugins</a:t>
            </a:r>
            <a:br/>
            <a:r>
              <a:t>Testing, documentation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github.com/crow-hub  |  Apache 2.0  |  contact@crowhub.dev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